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Play"/>
      <p:regular r:id="rId38"/>
      <p:bold r:id="rId39"/>
    </p:embeddedFont>
    <p:embeddedFont>
      <p:font typeface="Bai Jamjuree"/>
      <p:regular r:id="rId40"/>
      <p:bold r:id="rId41"/>
      <p:italic r:id="rId42"/>
      <p:boldItalic r:id="rId43"/>
    </p:embeddedFont>
    <p:embeddedFont>
      <p:font typeface="Bai Jamjuree Medium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hOxR8M1+Lg2LKx6ixsHpKAPaiu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07330E-C894-4BB6-A623-FA9E5CB186AA}">
  <a:tblStyle styleId="{6007330E-C894-4BB6-A623-FA9E5CB186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5A258F3-FDEF-4675-8F1C-F531F0F930A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iJamjuree-regular.fntdata"/><Relationship Id="rId42" Type="http://schemas.openxmlformats.org/officeDocument/2006/relationships/font" Target="fonts/BaiJamjuree-italic.fntdata"/><Relationship Id="rId41" Type="http://schemas.openxmlformats.org/officeDocument/2006/relationships/font" Target="fonts/BaiJamjuree-bold.fntdata"/><Relationship Id="rId44" Type="http://schemas.openxmlformats.org/officeDocument/2006/relationships/font" Target="fonts/BaiJamjureeMedium-regular.fntdata"/><Relationship Id="rId43" Type="http://schemas.openxmlformats.org/officeDocument/2006/relationships/font" Target="fonts/BaiJamjuree-boldItalic.fntdata"/><Relationship Id="rId46" Type="http://schemas.openxmlformats.org/officeDocument/2006/relationships/font" Target="fonts/BaiJamjureeMedium-italic.fntdata"/><Relationship Id="rId45" Type="http://schemas.openxmlformats.org/officeDocument/2006/relationships/font" Target="fonts/BaiJamjuree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font" Target="fonts/BaiJamjureeMedium-boldItalic.fntdata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Play-bold.fntdata"/><Relationship Id="rId38" Type="http://schemas.openxmlformats.org/officeDocument/2006/relationships/font" Target="fonts/Play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d9f08f8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ad9f08f8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1dade86c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b1dade86c4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1dade86c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1dade86c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1dade86c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1dade86c4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dade86c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b1dade86c4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1dade86c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b1dade86c4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2ef7a9ace_7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2ef7a9ace_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2e705b713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b2e705b713_2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2e705b713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b2e705b713_2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2e705b713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2e705b713_2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2ef7a9ace_2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2ef7a9ace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2e705b713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b2e705b713_5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2e705b713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b2e705b713_2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2e705b713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b2e705b713_2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2ef7a9ace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2ef7a9ace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1f6cf5f84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b1f6cf5f84_6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2e705b713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2e705b713_5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1f6cf5f84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b1f6cf5f84_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2e705b713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b2e705b713_2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2e705b713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b2e705b713_2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2e705b713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b2e705b713_2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1f1d6296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b1f1d6296c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2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2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ai Jamjuree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descr="White text on a black background&#10;&#10;AI-generated content may be incorrect." id="17" name="Google Shape;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136" y="333337"/>
            <a:ext cx="2253016" cy="642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831850" y="1215464"/>
            <a:ext cx="10515600" cy="261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5600"/>
              <a:buFont typeface="Bai Jamjuree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body"/>
          </p:nvPr>
        </p:nvSpPr>
        <p:spPr>
          <a:xfrm>
            <a:off x="831850" y="3872764"/>
            <a:ext cx="10515600" cy="1769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None/>
              <a:defRPr sz="2400">
                <a:solidFill>
                  <a:srgbClr val="15389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descr="Blue text on a black background&#10;&#10;AI-generated content may be incorrect." id="24" name="Google Shape;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927" y="214055"/>
            <a:ext cx="2295619" cy="654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title"/>
          </p:nvPr>
        </p:nvSpPr>
        <p:spPr>
          <a:xfrm>
            <a:off x="838200" y="1047605"/>
            <a:ext cx="10515600" cy="64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838200" y="1825625"/>
            <a:ext cx="10515600" cy="3984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id="32" name="Google Shape;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text on a black background&#10;&#10;AI-generated content may be incorrect." id="33" name="Google Shape;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927" y="214055"/>
            <a:ext cx="2295619" cy="654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838200" y="7234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838200" y="2056695"/>
            <a:ext cx="5181600" cy="380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2" type="body"/>
          </p:nvPr>
        </p:nvSpPr>
        <p:spPr>
          <a:xfrm>
            <a:off x="6172200" y="2056695"/>
            <a:ext cx="5181600" cy="380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id="41" name="Google Shape;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839788" y="715818"/>
            <a:ext cx="10515600" cy="974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2" type="body"/>
          </p:nvPr>
        </p:nvSpPr>
        <p:spPr>
          <a:xfrm>
            <a:off x="839788" y="2505075"/>
            <a:ext cx="5157787" cy="3290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4" type="body"/>
          </p:nvPr>
        </p:nvSpPr>
        <p:spPr>
          <a:xfrm>
            <a:off x="6172200" y="2505075"/>
            <a:ext cx="5183188" cy="3290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id="51" name="Google Shape;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838200" y="827903"/>
            <a:ext cx="10515600" cy="862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0" type="dt"/>
          </p:nvPr>
        </p:nvSpPr>
        <p:spPr>
          <a:xfrm>
            <a:off x="838200" y="656641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1" type="ftr"/>
          </p:nvPr>
        </p:nvSpPr>
        <p:spPr>
          <a:xfrm>
            <a:off x="4038600" y="656641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8610600" y="656641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descr="White text on a black background&#10;&#10;AI-generated content may be incorrect." id="57" name="Google Shape;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255" y="135018"/>
            <a:ext cx="1827489" cy="520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id="77" name="Google Shape;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838200" y="1823227"/>
            <a:ext cx="5142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i Jamjuree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pic>
        <p:nvPicPr>
          <p:cNvPr descr="White text on a black background&#10;&#10;AI-generated content may be incorrect." id="83" name="Google Shape;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136" y="333337"/>
            <a:ext cx="3301388" cy="940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 rot="5400000">
            <a:off x="4074083" y="-1410258"/>
            <a:ext cx="4043834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 rot="5400000">
            <a:off x="7299540" y="1790485"/>
            <a:ext cx="54796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 rot="5400000">
            <a:off x="1965540" y="-762215"/>
            <a:ext cx="5479621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  <a:defRPr b="1" i="0" sz="4400" u="none" cap="none" strike="noStrike">
                <a:solidFill>
                  <a:srgbClr val="153898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sciencedirect.com/science/article/pii/S2352914820302537?via%3Dihub" TargetMode="External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kaggle.com/datasets/tawsifurrahman/covid19-radiography-database" TargetMode="External"/><Relationship Id="rId4" Type="http://schemas.openxmlformats.org/officeDocument/2006/relationships/hyperlink" Target="https://www.kaggle.com/code/qamarmath/pneumonia-detection-via-cnn-94-test-accuracy#Evaluation-Metrics" TargetMode="External"/><Relationship Id="rId9" Type="http://schemas.openxmlformats.org/officeDocument/2006/relationships/hyperlink" Target="https://ieeexplore.ieee.org/document/9144185" TargetMode="External"/><Relationship Id="rId5" Type="http://schemas.openxmlformats.org/officeDocument/2006/relationships/hyperlink" Target="https://www.kaggle.com/datasets/prashant268/chest-xray-covid19-pneumonia?select=Data" TargetMode="External"/><Relationship Id="rId6" Type="http://schemas.openxmlformats.org/officeDocument/2006/relationships/hyperlink" Target="https://github.com/lindawangg/COVID-Net" TargetMode="External"/><Relationship Id="rId7" Type="http://schemas.openxmlformats.org/officeDocument/2006/relationships/hyperlink" Target="https://link.springer.com/article/10.1007/s13246-020-00865-4" TargetMode="External"/><Relationship Id="rId8" Type="http://schemas.openxmlformats.org/officeDocument/2006/relationships/hyperlink" Target="https://www.sciencedirect.com/science/article/pii/S0010482520301621?via%3Dihub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696675" y="109771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VN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VN"/>
              <a:t>Thị giác máy tính và ứng dụng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ai Jamjuree"/>
              <a:buNone/>
            </a:pPr>
            <a:r>
              <a:t/>
            </a: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2199600" y="2601150"/>
            <a:ext cx="77928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marR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VN" sz="2500">
                <a:latin typeface="Times New Roman"/>
                <a:ea typeface="Times New Roman"/>
                <a:cs typeface="Times New Roman"/>
                <a:sym typeface="Times New Roman"/>
              </a:rPr>
              <a:t>Đề tài: </a:t>
            </a:r>
            <a:r>
              <a:rPr b="1" lang="en-VN" sz="2500">
                <a:latin typeface="Times New Roman"/>
                <a:ea typeface="Times New Roman"/>
                <a:cs typeface="Times New Roman"/>
                <a:sym typeface="Times New Roman"/>
              </a:rPr>
              <a:t>Phân tích X-quang phổi phát hiện COVID-19</a:t>
            </a:r>
            <a:endParaRPr b="1" sz="3000"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280925" y="5069000"/>
            <a:ext cx="77928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V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Lớp: DHKHMT18ATT - 422001503101</a:t>
            </a:r>
            <a:endParaRPr b="1"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V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 viên hướng dẫn: Lê Thị Vĩnh Thanh</a:t>
            </a:r>
            <a:endParaRPr b="1"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marR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5350" y="800063"/>
            <a:ext cx="11887200" cy="4540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d9f08f82_0_18"/>
          <p:cNvSpPr txBox="1"/>
          <p:nvPr>
            <p:ph type="title"/>
          </p:nvPr>
        </p:nvSpPr>
        <p:spPr>
          <a:xfrm>
            <a:off x="630150" y="890500"/>
            <a:ext cx="69564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5600"/>
              <a:buFont typeface="Bai Jamjuree"/>
              <a:buNone/>
            </a:pPr>
            <a:r>
              <a:rPr lang="en-VN"/>
              <a:t>LÝ DO CHỌN ĐỀ TÀI</a:t>
            </a:r>
            <a:endParaRPr/>
          </a:p>
        </p:txBody>
      </p:sp>
      <p:sp>
        <p:nvSpPr>
          <p:cNvPr id="113" name="Google Shape;113;g3aad9f08f82_0_18"/>
          <p:cNvSpPr txBox="1"/>
          <p:nvPr>
            <p:ph idx="1" type="body"/>
          </p:nvPr>
        </p:nvSpPr>
        <p:spPr>
          <a:xfrm>
            <a:off x="630150" y="1905100"/>
            <a:ext cx="5627100" cy="3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68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80"/>
              <a:buChar char="-"/>
            </a:pPr>
            <a:r>
              <a:rPr lang="en-VN" sz="2080"/>
              <a:t>Chẩn đoán X-quang phụ thuộc nhiều vào kinh nghiệm bác sĩ</a:t>
            </a:r>
            <a:endParaRPr sz="2080"/>
          </a:p>
          <a:p>
            <a:pPr indent="-3606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0"/>
              <a:buChar char="-"/>
            </a:pPr>
            <a:r>
              <a:rPr lang="en-VN" sz="2080"/>
              <a:t>Trong dịch bệnh:</a:t>
            </a:r>
            <a:endParaRPr sz="2080"/>
          </a:p>
          <a:p>
            <a:pPr indent="-302894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●"/>
            </a:pPr>
            <a:r>
              <a:rPr lang="en-VN" sz="2080"/>
              <a:t>Bệnh nhân tăng nhanh</a:t>
            </a:r>
            <a:endParaRPr sz="2080"/>
          </a:p>
          <a:p>
            <a:pPr indent="-302894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●"/>
            </a:pPr>
            <a:r>
              <a:rPr lang="en-VN" sz="2080"/>
              <a:t>Bác sĩ quá tải</a:t>
            </a:r>
            <a:endParaRPr sz="2080"/>
          </a:p>
          <a:p>
            <a:pPr indent="-3606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0"/>
              <a:buChar char="-"/>
            </a:pPr>
            <a:r>
              <a:rPr lang="en-VN" sz="2080"/>
              <a:t>Khó phân biệt:</a:t>
            </a:r>
            <a:endParaRPr sz="2080"/>
          </a:p>
          <a:p>
            <a:pPr indent="-302894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●"/>
            </a:pPr>
            <a:r>
              <a:rPr lang="en-VN" sz="2080"/>
              <a:t>COVID-19</a:t>
            </a:r>
            <a:endParaRPr sz="2080"/>
          </a:p>
          <a:p>
            <a:pPr indent="-302894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●"/>
            </a:pPr>
            <a:r>
              <a:rPr lang="en-VN" sz="2080"/>
              <a:t>Viêm phổi thường</a:t>
            </a:r>
            <a:endParaRPr sz="2080"/>
          </a:p>
          <a:p>
            <a:pPr indent="-302894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●"/>
            </a:pPr>
            <a:r>
              <a:rPr lang="en-VN" sz="2080"/>
              <a:t>Phổi bình thường</a:t>
            </a:r>
            <a:endParaRPr sz="20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-VN" sz="2080"/>
              <a:t>Liệu có thể dùng AI để hỗ trợ bác sĩ phân tích X-quang nhanh và chính xác hơn không?</a:t>
            </a:r>
            <a:endParaRPr sz="2080"/>
          </a:p>
        </p:txBody>
      </p:sp>
      <p:graphicFrame>
        <p:nvGraphicFramePr>
          <p:cNvPr id="114" name="Google Shape;114;g3aad9f08f82_0_18"/>
          <p:cNvGraphicFramePr/>
          <p:nvPr/>
        </p:nvGraphicFramePr>
        <p:xfrm>
          <a:off x="6440675" y="196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{6007330E-C894-4BB6-A623-FA9E5CB186AA}</a:tableStyleId>
              </a:tblPr>
              <a:tblGrid>
                <a:gridCol w="929250"/>
                <a:gridCol w="1130025"/>
                <a:gridCol w="1184075"/>
                <a:gridCol w="1068250"/>
                <a:gridCol w="666700"/>
              </a:tblGrid>
              <a:tr h="913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Phương pháp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Ưu điểm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Nhược điểm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Độ chính xác trung bình (%)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Thời gian xử lý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RT-PCR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Độ đặc hiệu cao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Chậm, đắt đỏ, dương tính giả thấp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4-6 giờ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CT Scan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Hình ảnh chi tiết, phát hiện sớm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Tốn kém, phơi nhiễm bức xạ cao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15-30 phút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X-quang + AI (đề xuất)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Nhanh, rẻ, dễ triển khai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Nhạy cảm với nhiễu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96-99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&lt;1 giây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dade86c4_0_9"/>
          <p:cNvSpPr txBox="1"/>
          <p:nvPr>
            <p:ph type="title"/>
          </p:nvPr>
        </p:nvSpPr>
        <p:spPr>
          <a:xfrm>
            <a:off x="630150" y="890500"/>
            <a:ext cx="81777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ct val="100000"/>
              <a:buFont typeface="Bai Jamjuree"/>
              <a:buNone/>
            </a:pPr>
            <a:r>
              <a:rPr lang="en-VN"/>
              <a:t>MỤC TIÊU NGHIÊN CỨU</a:t>
            </a:r>
            <a:endParaRPr/>
          </a:p>
        </p:txBody>
      </p:sp>
      <p:sp>
        <p:nvSpPr>
          <p:cNvPr id="120" name="Google Shape;120;g3b1dade86c4_0_9"/>
          <p:cNvSpPr txBox="1"/>
          <p:nvPr>
            <p:ph idx="1" type="body"/>
          </p:nvPr>
        </p:nvSpPr>
        <p:spPr>
          <a:xfrm>
            <a:off x="943900" y="1905111"/>
            <a:ext cx="10515600" cy="3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VN" sz="2180"/>
              <a:t>Mục tiêu chính của đề tài là xây dựng một mô hình học sâu để phân loại ảnh X-quang phổi thành 3 lớp:</a:t>
            </a:r>
            <a:endParaRPr sz="218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VN" sz="2180"/>
              <a:t>Bình thường</a:t>
            </a:r>
            <a:endParaRPr sz="218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VN" sz="2180"/>
              <a:t>COVID-19</a:t>
            </a:r>
            <a:endParaRPr sz="218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VN" sz="2180"/>
              <a:t>Viêm phổi</a:t>
            </a:r>
            <a:endParaRPr sz="218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VN" sz="2180"/>
              <a:t>Mô hình hướng tới độ chính xác ≥ 93%, và đóng vai trò hệ thống hỗ trợ, không thay thế bác sĩ.</a:t>
            </a:r>
            <a:endParaRPr sz="218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1dade86c4_0_20"/>
          <p:cNvSpPr txBox="1"/>
          <p:nvPr>
            <p:ph type="title"/>
          </p:nvPr>
        </p:nvSpPr>
        <p:spPr>
          <a:xfrm>
            <a:off x="630150" y="890500"/>
            <a:ext cx="81777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5600"/>
              <a:buFont typeface="Bai Jamjuree"/>
              <a:buNone/>
            </a:pPr>
            <a:r>
              <a:rPr lang="en-VN"/>
              <a:t>ĐỐI TƯỢNG &amp; PHẠM VI</a:t>
            </a:r>
            <a:endParaRPr/>
          </a:p>
        </p:txBody>
      </p:sp>
      <p:sp>
        <p:nvSpPr>
          <p:cNvPr id="126" name="Google Shape;126;g3b1dade86c4_0_20"/>
          <p:cNvSpPr txBox="1"/>
          <p:nvPr>
            <p:ph idx="1" type="body"/>
          </p:nvPr>
        </p:nvSpPr>
        <p:spPr>
          <a:xfrm>
            <a:off x="943900" y="1905111"/>
            <a:ext cx="10515600" cy="3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80"/>
              <a:buChar char="-"/>
            </a:pPr>
            <a:r>
              <a:rPr lang="en-VN" sz="2180"/>
              <a:t>Đối tượng nghiên cứu:</a:t>
            </a:r>
            <a:endParaRPr sz="218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VN" sz="2180"/>
              <a:t>Ảnh X-quang phổi (Chest X-ray)</a:t>
            </a:r>
            <a:endParaRPr sz="2180"/>
          </a:p>
          <a:p>
            <a:pPr indent="-36703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80"/>
              <a:buChar char="-"/>
            </a:pPr>
            <a:r>
              <a:rPr lang="en-VN" sz="2180"/>
              <a:t>Phạm vi áp dụng:</a:t>
            </a:r>
            <a:endParaRPr sz="2180"/>
          </a:p>
          <a:p>
            <a:pPr indent="-2984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VN" sz="2180"/>
              <a:t>Hỗ trợ sàng lọc ban đầu</a:t>
            </a:r>
            <a:endParaRPr sz="2180"/>
          </a:p>
          <a:p>
            <a:pPr indent="-2984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VN" sz="2180"/>
              <a:t>Ứng dụng tại bệnh viện, phòng khám</a:t>
            </a:r>
            <a:endParaRPr sz="2180"/>
          </a:p>
          <a:p>
            <a:pPr indent="-2984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VN" sz="2180"/>
              <a:t>Có thể triển khai ở tuyến dưới</a:t>
            </a:r>
            <a:endParaRPr sz="218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VN" sz="2180"/>
              <a:t>Mô hình không đưa ra chẩn đoán y khoa cuối cùng, mà hỗ trợ quyết định.</a:t>
            </a:r>
            <a:endParaRPr sz="218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type="title"/>
          </p:nvPr>
        </p:nvSpPr>
        <p:spPr>
          <a:xfrm>
            <a:off x="838200" y="1047605"/>
            <a:ext cx="10515600" cy="64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</a:pPr>
            <a:r>
              <a:rPr lang="en-VN"/>
              <a:t> DATASET &amp; TIỀN XỬ LÝ</a:t>
            </a:r>
            <a:endParaRPr/>
          </a:p>
        </p:txBody>
      </p:sp>
      <p:sp>
        <p:nvSpPr>
          <p:cNvPr id="132" name="Google Shape;132;p3"/>
          <p:cNvSpPr txBox="1"/>
          <p:nvPr>
            <p:ph idx="1" type="body"/>
          </p:nvPr>
        </p:nvSpPr>
        <p:spPr>
          <a:xfrm>
            <a:off x="838200" y="1825625"/>
            <a:ext cx="3795300" cy="3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VN" sz="1500"/>
              <a:t>Tải dữ liệu ảnh X-quang phổi từ Kaggle và COVID-19 Radiography Database 26775 ảnh.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VN" sz="1500"/>
              <a:t>Thực hiện phân chia dữ liệu: Train (80%) – Validation (5%) – Test (15%).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VN" sz="1500"/>
              <a:t>Covid19: 3353 train, 209 val, 630 test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VN" sz="1500"/>
              <a:t>Pneumonia: 7912 train, 494 val, 1485 test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VN" sz="1500"/>
              <a:t>Normal: 10153 train, 634 val, 1905 test</a:t>
            </a:r>
            <a:endParaRPr sz="1500"/>
          </a:p>
        </p:txBody>
      </p:sp>
      <p:pic>
        <p:nvPicPr>
          <p:cNvPr id="133" name="Google Shape;13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850" y="1825625"/>
            <a:ext cx="6572252" cy="39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1dade86c4_0_77"/>
          <p:cNvSpPr txBox="1"/>
          <p:nvPr>
            <p:ph type="title"/>
          </p:nvPr>
        </p:nvSpPr>
        <p:spPr>
          <a:xfrm>
            <a:off x="838200" y="1047605"/>
            <a:ext cx="10515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</a:pPr>
            <a:r>
              <a:rPr lang="en-VN"/>
              <a:t> DATASET &amp; TIỀN XỬ LÝ</a:t>
            </a:r>
            <a:endParaRPr/>
          </a:p>
        </p:txBody>
      </p:sp>
      <p:pic>
        <p:nvPicPr>
          <p:cNvPr id="139" name="Google Shape;139;g3b1dade86c4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5" y="2035900"/>
            <a:ext cx="4154549" cy="3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b1dade86c4_0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625" y="2091123"/>
            <a:ext cx="4154549" cy="322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b1dade86c4_0_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0875" y="2066513"/>
            <a:ext cx="4075799" cy="31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351375" y="5"/>
            <a:ext cx="10515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</a:pPr>
            <a:r>
              <a:rPr lang="en-VN"/>
              <a:t> DATASET &amp; TIỀN XỬ LÝ</a:t>
            </a:r>
            <a:endParaRPr/>
          </a:p>
        </p:txBody>
      </p:sp>
      <p:graphicFrame>
        <p:nvGraphicFramePr>
          <p:cNvPr id="147" name="Google Shape;147;p8"/>
          <p:cNvGraphicFramePr/>
          <p:nvPr/>
        </p:nvGraphicFramePr>
        <p:xfrm>
          <a:off x="157550" y="72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{65A258F3-FDEF-4675-8F1C-F531F0F930A4}</a:tableStyleId>
              </a:tblPr>
              <a:tblGrid>
                <a:gridCol w="2454300"/>
                <a:gridCol w="620525"/>
                <a:gridCol w="2715925"/>
                <a:gridCol w="6102750"/>
              </a:tblGrid>
              <a:tr h="613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/>
                        <a:t>Tham số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/>
                        <a:t>Giá trị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/>
                        <a:t>Ý nghĩa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/>
                        <a:t>Lý do sử dụng trong ảnh X-quang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rotation_range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30°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Xoay ảnh ngẫu nhiên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Mô phỏng tư thế bệnh nhân khác nhau, giúp mô hình không phụ thuộc hướng chụp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zoom_range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0.2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Phóng to / thu nhỏ ảnh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Giúp mô hình nhận diện tổn thương ở nhiều tỷ lệ khác nhau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width_shift_range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0.1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Dịch chuyển ngang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Giảm phụ thuộc vị trí cố định của phổi trong ảnh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height_shift_range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0.1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Dịch chuyển dọc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Tăng khả năng tổng quát khi ảnh không căn chỉnh chuẩn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horizontal_flip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True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Lật ngang ảnh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Phổi trái – phải tương đối đối xứng, không làm sai lệch ý nghĩa y khoa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vertical_flip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False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Không lật dọc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Lật dọc làm sai giải phẫu phổi, gây nhiễu mô hình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featurewise_center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False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Không trừ trung bình toàn tập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Tránh sai lệch khi dataset không đồng nhất nguồn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samplewise_center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False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Không chuẩn hóa từng ảnh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Giữ nguyên đặc trưng tương đối của từng ảnh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zca_whitening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False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Không whitening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Không phù hợp ảnh y tế, dễ làm mất đặc trưng bệnh lý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datagen.fit(x_train)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–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Học thống kê dữ liệu train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/>
                        <a:t>Áp dụng augmentation nhất quán trong quá trình huấn luyện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dade86c4_0_95"/>
          <p:cNvSpPr txBox="1"/>
          <p:nvPr>
            <p:ph type="title"/>
          </p:nvPr>
        </p:nvSpPr>
        <p:spPr>
          <a:xfrm>
            <a:off x="351375" y="5"/>
            <a:ext cx="10515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</a:pPr>
            <a:r>
              <a:rPr lang="en-VN"/>
              <a:t> DATASET &amp; TIỀN XỬ LÝ</a:t>
            </a:r>
            <a:endParaRPr/>
          </a:p>
        </p:txBody>
      </p:sp>
      <p:pic>
        <p:nvPicPr>
          <p:cNvPr id="153" name="Google Shape;153;g3b1dade86c4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00" y="1123950"/>
            <a:ext cx="11417526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b1dade86c4_0_95"/>
          <p:cNvSpPr txBox="1"/>
          <p:nvPr/>
        </p:nvSpPr>
        <p:spPr>
          <a:xfrm>
            <a:off x="2615400" y="3526975"/>
            <a:ext cx="2101500" cy="21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1dade86c4_0_31"/>
          <p:cNvSpPr txBox="1"/>
          <p:nvPr>
            <p:ph type="title"/>
          </p:nvPr>
        </p:nvSpPr>
        <p:spPr>
          <a:xfrm>
            <a:off x="838200" y="1271730"/>
            <a:ext cx="10515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</a:pPr>
            <a:r>
              <a:rPr lang="en-VN"/>
              <a:t>MÔ HÌNH ĐỀ XUẤT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</a:pPr>
            <a:r>
              <a:t/>
            </a:r>
            <a:endParaRPr/>
          </a:p>
        </p:txBody>
      </p:sp>
      <p:graphicFrame>
        <p:nvGraphicFramePr>
          <p:cNvPr id="160" name="Google Shape;160;g3b1dade86c4_0_31"/>
          <p:cNvGraphicFramePr/>
          <p:nvPr/>
        </p:nvGraphicFramePr>
        <p:xfrm>
          <a:off x="925475" y="175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{6007330E-C894-4BB6-A623-FA9E5CB186AA}</a:tableStyleId>
              </a:tblPr>
              <a:tblGrid>
                <a:gridCol w="1835925"/>
                <a:gridCol w="1421800"/>
                <a:gridCol w="1753100"/>
                <a:gridCol w="1835925"/>
                <a:gridCol w="1863525"/>
                <a:gridCol w="1849725"/>
              </a:tblGrid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Kiến trúc</a:t>
                      </a:r>
                      <a:endParaRPr b="1"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Số lớp</a:t>
                      </a:r>
                      <a:endParaRPr b="1"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Số tham số (triệu)</a:t>
                      </a:r>
                      <a:endParaRPr b="1"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Depth (hiệu quả)</a:t>
                      </a:r>
                      <a:endParaRPr b="1"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ImageNet (%)</a:t>
                      </a:r>
                      <a:endParaRPr b="1"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Đặc trưng chính</a:t>
                      </a:r>
                      <a:endParaRPr b="1"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VGG16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71.3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 3x3 stack, FC lớn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ResNet50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25.6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 (residual)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76.1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Bottleneck blocks, skip connections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DenseNet169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169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14.15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169 (dense)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76.2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900">
                          <a:solidFill>
                            <a:srgbClr val="15389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Dense connections, transition layers</a:t>
                      </a:r>
                      <a:endParaRPr sz="1900">
                        <a:solidFill>
                          <a:srgbClr val="15389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QUY TRÌNH HUẤN LUYỆN</a:t>
            </a:r>
            <a:endParaRPr/>
          </a:p>
        </p:txBody>
      </p:sp>
      <p:pic>
        <p:nvPicPr>
          <p:cNvPr id="166" name="Google Shape;16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50" y="866075"/>
            <a:ext cx="11887201" cy="487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2ef7a9ace_7_10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MÔ HÌNH VGG16</a:t>
            </a:r>
            <a:endParaRPr/>
          </a:p>
        </p:txBody>
      </p:sp>
      <p:pic>
        <p:nvPicPr>
          <p:cNvPr id="172" name="Google Shape;172;g3b2ef7a9ace_7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175" y="1117399"/>
            <a:ext cx="6143650" cy="44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2e705b713_2_21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</a:t>
            </a:r>
            <a:r>
              <a:rPr lang="en-VN"/>
              <a:t>HUẤN LUYỆN</a:t>
            </a:r>
            <a:endParaRPr/>
          </a:p>
        </p:txBody>
      </p:sp>
      <p:sp>
        <p:nvSpPr>
          <p:cNvPr id="178" name="Google Shape;178;g3b2e705b713_2_21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VGG16</a:t>
            </a:r>
            <a:endParaRPr b="1" sz="2400"/>
          </a:p>
        </p:txBody>
      </p:sp>
      <p:sp>
        <p:nvSpPr>
          <p:cNvPr id="179" name="Google Shape;179;g3b2e705b713_2_21"/>
          <p:cNvSpPr txBox="1"/>
          <p:nvPr/>
        </p:nvSpPr>
        <p:spPr>
          <a:xfrm>
            <a:off x="3486459" y="5224825"/>
            <a:ext cx="5219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loss &amp; accuracy</a:t>
            </a:r>
            <a:endParaRPr b="1" sz="2400"/>
          </a:p>
        </p:txBody>
      </p:sp>
      <p:graphicFrame>
        <p:nvGraphicFramePr>
          <p:cNvPr id="180" name="Google Shape;180;g3b2e705b713_2_21"/>
          <p:cNvGraphicFramePr/>
          <p:nvPr/>
        </p:nvGraphicFramePr>
        <p:xfrm>
          <a:off x="573750" y="2122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{6007330E-C894-4BB6-A623-FA9E5CB186AA}</a:tableStyleId>
              </a:tblPr>
              <a:tblGrid>
                <a:gridCol w="798950"/>
                <a:gridCol w="1064375"/>
                <a:gridCol w="798950"/>
                <a:gridCol w="1329800"/>
                <a:gridCol w="1056325"/>
              </a:tblGrid>
              <a:tr h="317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Epoch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(Train)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 (Train)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(Validation)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 (Validation)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59.21%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0.8392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78.23%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0.4643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87.43%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0.3052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89.68%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0.2646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92.65%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0.1975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95.36%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0.1354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94.76%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0.1358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96.78%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0.0945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(tốt nhất)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95.73%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0.1199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96.93%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0.0864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95.38%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0.1173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96.63%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0.0854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pic>
        <p:nvPicPr>
          <p:cNvPr id="181" name="Google Shape;181;g3b2e705b713_2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125" y="2122300"/>
            <a:ext cx="5219100" cy="26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2e705b713_2_33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HUẤN LUYỆN</a:t>
            </a:r>
            <a:endParaRPr/>
          </a:p>
        </p:txBody>
      </p:sp>
      <p:sp>
        <p:nvSpPr>
          <p:cNvPr id="187" name="Google Shape;187;g3b2e705b713_2_33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VGG16</a:t>
            </a:r>
            <a:endParaRPr b="1" sz="2400"/>
          </a:p>
        </p:txBody>
      </p:sp>
      <p:sp>
        <p:nvSpPr>
          <p:cNvPr id="188" name="Google Shape;188;g3b2e705b713_2_33"/>
          <p:cNvSpPr txBox="1"/>
          <p:nvPr/>
        </p:nvSpPr>
        <p:spPr>
          <a:xfrm>
            <a:off x="2810248" y="5174225"/>
            <a:ext cx="6571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Đánh giá mô hình theo từng lớp</a:t>
            </a:r>
            <a:endParaRPr b="1" sz="2900">
              <a:solidFill>
                <a:srgbClr val="1538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9" name="Google Shape;189;g3b2e705b713_2_33"/>
          <p:cNvGraphicFramePr/>
          <p:nvPr/>
        </p:nvGraphicFramePr>
        <p:xfrm>
          <a:off x="645475" y="201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{6007330E-C894-4BB6-A623-FA9E5CB186AA}</a:tableStyleId>
              </a:tblPr>
              <a:tblGrid>
                <a:gridCol w="902825"/>
                <a:gridCol w="902825"/>
                <a:gridCol w="902825"/>
                <a:gridCol w="902825"/>
                <a:gridCol w="902825"/>
                <a:gridCol w="902825"/>
              </a:tblGrid>
              <a:tr h="639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Lớp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Số mẫu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Pneumonia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0.9795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</a:t>
                      </a: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676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0.9735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0.9676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6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0.9598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0.9795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0.9696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0.9795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6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Covid19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0.9851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0.9522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0.9684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0.9522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Macro Average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0.9748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0.9664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0.9705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0.9664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0" name="Google Shape;190;g3b2e705b713_2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8550" y="2018350"/>
            <a:ext cx="4714074" cy="294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2e705b713_2_45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HUẤN LUYỆN</a:t>
            </a:r>
            <a:endParaRPr/>
          </a:p>
        </p:txBody>
      </p:sp>
      <p:sp>
        <p:nvSpPr>
          <p:cNvPr id="196" name="Google Shape;196;g3b2e705b713_2_45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VGG16</a:t>
            </a:r>
            <a:endParaRPr b="1" sz="2400"/>
          </a:p>
        </p:txBody>
      </p:sp>
      <p:sp>
        <p:nvSpPr>
          <p:cNvPr id="197" name="Google Shape;197;g3b2e705b713_2_45"/>
          <p:cNvSpPr txBox="1"/>
          <p:nvPr/>
        </p:nvSpPr>
        <p:spPr>
          <a:xfrm>
            <a:off x="2169295" y="5109350"/>
            <a:ext cx="7853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trận nhầm lẫn &amp; kết quả dự đoán trực quan</a:t>
            </a:r>
            <a:endParaRPr b="1" sz="2400"/>
          </a:p>
        </p:txBody>
      </p:sp>
      <p:pic>
        <p:nvPicPr>
          <p:cNvPr id="198" name="Google Shape;198;g3b2e705b713_2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50" y="1535200"/>
            <a:ext cx="53721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b2e705b713_2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8425" y="1535200"/>
            <a:ext cx="611505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2ef7a9ace_2_4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MÔ HÌNH RESNET50</a:t>
            </a:r>
            <a:endParaRPr/>
          </a:p>
        </p:txBody>
      </p:sp>
      <p:sp>
        <p:nvSpPr>
          <p:cNvPr id="205" name="Google Shape;205;g3b2ef7a9ace_2_4"/>
          <p:cNvSpPr txBox="1"/>
          <p:nvPr>
            <p:ph idx="1" type="body"/>
          </p:nvPr>
        </p:nvSpPr>
        <p:spPr>
          <a:xfrm>
            <a:off x="838200" y="2056695"/>
            <a:ext cx="5181600" cy="38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b2ef7a9ace_2_4"/>
          <p:cNvSpPr txBox="1"/>
          <p:nvPr>
            <p:ph idx="2" type="body"/>
          </p:nvPr>
        </p:nvSpPr>
        <p:spPr>
          <a:xfrm>
            <a:off x="8058500" y="995900"/>
            <a:ext cx="3295200" cy="210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VN"/>
              <a:t>Bottleneck Block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VN"/>
              <a:t>Skip Connection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VN">
                <a:solidFill>
                  <a:srgbClr val="FF0000"/>
                </a:solidFill>
              </a:rPr>
              <a:t>H(x) = F(x) + x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207" name="Google Shape;207;g3b2ef7a9ace_2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6850" y="1983900"/>
            <a:ext cx="7516724" cy="30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b2ef7a9ace_2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2274" y="3251900"/>
            <a:ext cx="388620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2e705b713_5_16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HUẤN LUYỆN</a:t>
            </a:r>
            <a:endParaRPr/>
          </a:p>
        </p:txBody>
      </p:sp>
      <p:sp>
        <p:nvSpPr>
          <p:cNvPr id="214" name="Google Shape;214;g3b2e705b713_5_16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</a:t>
            </a:r>
            <a:endParaRPr b="1" sz="2400"/>
          </a:p>
        </p:txBody>
      </p:sp>
      <p:pic>
        <p:nvPicPr>
          <p:cNvPr id="215" name="Google Shape;215;g3b2e705b713_5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75" y="1986375"/>
            <a:ext cx="5835751" cy="288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b2e705b713_5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075" y="1876325"/>
            <a:ext cx="6400149" cy="29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2e705b713_2_64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HUẤN LUYỆN</a:t>
            </a:r>
            <a:endParaRPr/>
          </a:p>
        </p:txBody>
      </p:sp>
      <p:sp>
        <p:nvSpPr>
          <p:cNvPr id="222" name="Google Shape;222;g3b2e705b713_2_64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</a:t>
            </a:r>
            <a:endParaRPr b="1" sz="2400"/>
          </a:p>
        </p:txBody>
      </p:sp>
      <p:pic>
        <p:nvPicPr>
          <p:cNvPr id="223" name="Google Shape;223;g3b2e705b713_2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7450"/>
            <a:ext cx="6402326" cy="30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b2e705b713_2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9500" y="1573325"/>
            <a:ext cx="6402324" cy="33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2e705b713_2_69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HUẤN LUYỆN</a:t>
            </a:r>
            <a:endParaRPr/>
          </a:p>
        </p:txBody>
      </p:sp>
      <p:sp>
        <p:nvSpPr>
          <p:cNvPr id="230" name="Google Shape;230;g3b2e705b713_2_69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</a:t>
            </a:r>
            <a:endParaRPr b="1" sz="2400"/>
          </a:p>
        </p:txBody>
      </p:sp>
      <p:pic>
        <p:nvPicPr>
          <p:cNvPr id="231" name="Google Shape;231;g3b2e705b713_2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00" y="1573325"/>
            <a:ext cx="5128625" cy="41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b2e705b713_2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7025" y="1754025"/>
            <a:ext cx="6172576" cy="3349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2ef7a9ace_7_0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MÔ HÌNH DenseNet169</a:t>
            </a:r>
            <a:endParaRPr/>
          </a:p>
        </p:txBody>
      </p:sp>
      <p:pic>
        <p:nvPicPr>
          <p:cNvPr id="238" name="Google Shape;238;g3b2ef7a9ace_7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625" y="1009200"/>
            <a:ext cx="8907651" cy="48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1f6cf5f84_6_15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Huấn Luyện</a:t>
            </a:r>
            <a:endParaRPr/>
          </a:p>
        </p:txBody>
      </p:sp>
      <p:sp>
        <p:nvSpPr>
          <p:cNvPr id="244" name="Google Shape;244;g3b1f6cf5f84_6_15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DenseNet169</a:t>
            </a:r>
            <a:endParaRPr b="1" sz="2400"/>
          </a:p>
        </p:txBody>
      </p:sp>
      <p:sp>
        <p:nvSpPr>
          <p:cNvPr id="245" name="Google Shape;245;g3b1f6cf5f84_6_15"/>
          <p:cNvSpPr txBox="1"/>
          <p:nvPr/>
        </p:nvSpPr>
        <p:spPr>
          <a:xfrm>
            <a:off x="297840" y="5305925"/>
            <a:ext cx="11074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loss &amp; accuracy</a:t>
            </a:r>
            <a:endParaRPr b="1" sz="2400"/>
          </a:p>
        </p:txBody>
      </p:sp>
      <p:pic>
        <p:nvPicPr>
          <p:cNvPr id="246" name="Google Shape;246;g3b1f6cf5f84_6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49" y="2456475"/>
            <a:ext cx="5589600" cy="141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b1f6cf5f84_6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9900" y="2238554"/>
            <a:ext cx="6616649" cy="238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2e705b713_5_1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HUẤN LUYỆN</a:t>
            </a:r>
            <a:endParaRPr/>
          </a:p>
        </p:txBody>
      </p:sp>
      <p:sp>
        <p:nvSpPr>
          <p:cNvPr id="253" name="Google Shape;253;g3b2e705b713_5_1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DenseNet169</a:t>
            </a:r>
            <a:endParaRPr b="1" sz="2400"/>
          </a:p>
        </p:txBody>
      </p:sp>
      <p:sp>
        <p:nvSpPr>
          <p:cNvPr id="254" name="Google Shape;254;g3b2e705b713_5_1"/>
          <p:cNvSpPr txBox="1"/>
          <p:nvPr/>
        </p:nvSpPr>
        <p:spPr>
          <a:xfrm>
            <a:off x="297840" y="5305925"/>
            <a:ext cx="1107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255" name="Google Shape;255;g3b2e705b713_5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175" y="1428650"/>
            <a:ext cx="9033650" cy="37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b2e705b713_5_1"/>
          <p:cNvSpPr txBox="1"/>
          <p:nvPr/>
        </p:nvSpPr>
        <p:spPr>
          <a:xfrm>
            <a:off x="2810248" y="5174225"/>
            <a:ext cx="6571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Đánh giá mô hình theo từng lớp</a:t>
            </a:r>
            <a:endParaRPr b="1" sz="2900">
              <a:solidFill>
                <a:srgbClr val="1538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1f6cf5f84_3_1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HUẤN LUYỆN</a:t>
            </a:r>
            <a:endParaRPr/>
          </a:p>
        </p:txBody>
      </p:sp>
      <p:sp>
        <p:nvSpPr>
          <p:cNvPr id="262" name="Google Shape;262;g3b1f6cf5f84_3_1"/>
          <p:cNvSpPr txBox="1"/>
          <p:nvPr/>
        </p:nvSpPr>
        <p:spPr>
          <a:xfrm>
            <a:off x="0" y="942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DenseNet169</a:t>
            </a:r>
            <a:endParaRPr b="1" sz="2400"/>
          </a:p>
        </p:txBody>
      </p:sp>
      <p:sp>
        <p:nvSpPr>
          <p:cNvPr id="263" name="Google Shape;263;g3b1f6cf5f84_3_1"/>
          <p:cNvSpPr txBox="1"/>
          <p:nvPr/>
        </p:nvSpPr>
        <p:spPr>
          <a:xfrm>
            <a:off x="2169295" y="5109350"/>
            <a:ext cx="7853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VN" sz="2900">
                <a:solidFill>
                  <a:srgbClr val="1538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trận nhầm lẫn &amp; kết quả dự đoán trực quan</a:t>
            </a:r>
            <a:endParaRPr b="1" sz="2400"/>
          </a:p>
        </p:txBody>
      </p:sp>
      <p:pic>
        <p:nvPicPr>
          <p:cNvPr id="264" name="Google Shape;264;g3b1f6cf5f84_3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725" y="1800225"/>
            <a:ext cx="63055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b1f6cf5f84_3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100" y="1876425"/>
            <a:ext cx="4048125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"/>
          <p:cNvSpPr txBox="1"/>
          <p:nvPr>
            <p:ph type="title"/>
          </p:nvPr>
        </p:nvSpPr>
        <p:spPr>
          <a:xfrm>
            <a:off x="580463" y="-57407"/>
            <a:ext cx="105156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QUẢ &amp; ĐÁNH GIÁ</a:t>
            </a:r>
            <a:endParaRPr/>
          </a:p>
        </p:txBody>
      </p:sp>
      <p:pic>
        <p:nvPicPr>
          <p:cNvPr id="271" name="Google Shape;27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20925"/>
            <a:ext cx="6115050" cy="4416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2" name="Google Shape;272;p5"/>
          <p:cNvGraphicFramePr/>
          <p:nvPr/>
        </p:nvGraphicFramePr>
        <p:xfrm>
          <a:off x="6206525" y="917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{6007330E-C894-4BB6-A623-FA9E5CB186AA}</a:tableStyleId>
              </a:tblPr>
              <a:tblGrid>
                <a:gridCol w="1147150"/>
                <a:gridCol w="1355250"/>
                <a:gridCol w="1147150"/>
                <a:gridCol w="1419275"/>
              </a:tblGrid>
              <a:tr h="2714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Tiêu chí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VGG16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ResNet-50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DenseNet169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tổng thể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96.94%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97.56%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98.98% (cao nhất)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Phát hiện Covid-19 (Recall)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94.13%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96.51%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97.62%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Phát hiện Normal (Recall)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97.11%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97.74%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99.48%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Phát hiện Pneumonia (Recall)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97.91%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97.78%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98.92%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Lỗi nhầm lẫn nổi bật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Nhầm Covid-19 thành Normal khá nhiều (32 mẫu)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Nhầm Normal thành Covid-19 (22 mẫu)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Lỗi rất thấp, chủ yếu Covid-19 thành Normal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Độ cân bằng giữa các lớp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Trung bình – yếu ở Covid-19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Tốt, khá đồng đều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Rất tốt, ổn định nhất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2e705b713_2_57"/>
          <p:cNvSpPr txBox="1"/>
          <p:nvPr>
            <p:ph type="title"/>
          </p:nvPr>
        </p:nvSpPr>
        <p:spPr>
          <a:xfrm>
            <a:off x="580463" y="-57407"/>
            <a:ext cx="105156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PHÂN LOẠI TRÊN MÔ HÌNH</a:t>
            </a:r>
            <a:endParaRPr/>
          </a:p>
        </p:txBody>
      </p:sp>
      <p:pic>
        <p:nvPicPr>
          <p:cNvPr id="278" name="Google Shape;278;g3b2e705b713_2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87" y="1450212"/>
            <a:ext cx="11572426" cy="39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b2e705b713_2_57"/>
          <p:cNvSpPr txBox="1"/>
          <p:nvPr/>
        </p:nvSpPr>
        <p:spPr>
          <a:xfrm>
            <a:off x="580475" y="9645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2e705b713_2_74"/>
          <p:cNvSpPr txBox="1"/>
          <p:nvPr>
            <p:ph type="title"/>
          </p:nvPr>
        </p:nvSpPr>
        <p:spPr>
          <a:xfrm>
            <a:off x="535638" y="-68332"/>
            <a:ext cx="105156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Phân loại trên </a:t>
            </a:r>
            <a:r>
              <a:rPr lang="en-VN"/>
              <a:t>Grok</a:t>
            </a:r>
            <a:endParaRPr/>
          </a:p>
        </p:txBody>
      </p:sp>
      <p:pic>
        <p:nvPicPr>
          <p:cNvPr id="285" name="Google Shape;285;g3b2e705b713_2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800" y="1074763"/>
            <a:ext cx="6358949" cy="45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b2e705b713_2_74"/>
          <p:cNvSpPr txBox="1"/>
          <p:nvPr/>
        </p:nvSpPr>
        <p:spPr>
          <a:xfrm>
            <a:off x="705925" y="7404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1538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2e705b713_2_80"/>
          <p:cNvSpPr txBox="1"/>
          <p:nvPr>
            <p:ph type="title"/>
          </p:nvPr>
        </p:nvSpPr>
        <p:spPr>
          <a:xfrm>
            <a:off x="580463" y="-57407"/>
            <a:ext cx="105156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Phân loại trên ChatGPT</a:t>
            </a:r>
            <a:endParaRPr/>
          </a:p>
        </p:txBody>
      </p:sp>
      <p:pic>
        <p:nvPicPr>
          <p:cNvPr id="292" name="Google Shape;292;g3b2e705b713_2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237" y="1166250"/>
            <a:ext cx="5782073" cy="259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b2e705b713_2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237" y="3544051"/>
            <a:ext cx="5782075" cy="230747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b2e705b713_2_80"/>
          <p:cNvSpPr txBox="1"/>
          <p:nvPr/>
        </p:nvSpPr>
        <p:spPr>
          <a:xfrm>
            <a:off x="705925" y="7404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15389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"/>
          <p:cNvSpPr txBox="1"/>
          <p:nvPr>
            <p:ph type="title"/>
          </p:nvPr>
        </p:nvSpPr>
        <p:spPr>
          <a:xfrm>
            <a:off x="838200" y="827903"/>
            <a:ext cx="10515600" cy="862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GIÁ TRỊ THỰC TIỄN</a:t>
            </a:r>
            <a:endParaRPr/>
          </a:p>
        </p:txBody>
      </p:sp>
      <p:pic>
        <p:nvPicPr>
          <p:cNvPr id="300" name="Google Shape;30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3325" y="1690700"/>
            <a:ext cx="6088626" cy="45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6"/>
          <p:cNvSpPr txBox="1"/>
          <p:nvPr/>
        </p:nvSpPr>
        <p:spPr>
          <a:xfrm>
            <a:off x="822325" y="1885550"/>
            <a:ext cx="42081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Hỗ trợ chẩn đoán nhanh chính xác, giúp bác sĩ giảm thời gian chuẩn đoán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Giảm áp lực hệ thống y tế: tự động hóa quá trình sàng lọc ban đầu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"/>
          <p:cNvSpPr txBox="1"/>
          <p:nvPr>
            <p:ph idx="4294967295" type="title"/>
          </p:nvPr>
        </p:nvSpPr>
        <p:spPr>
          <a:xfrm>
            <a:off x="502025" y="245203"/>
            <a:ext cx="105156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LUẬN &amp; HƯỚNG PHÁT TRIỂN</a:t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501100" y="1108000"/>
            <a:ext cx="4609500" cy="3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Play"/>
              <a:buChar char="-"/>
            </a:pP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Mô hình cho ra kết quả khả quan, độ tin cậy &gt;96%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Play"/>
              <a:buChar char="-"/>
            </a:pP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Phù hợp phát triển về phần phân tích ảnh chụp X quang trong y học : X  quang ngực, xương, não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Play"/>
              <a:buChar char="-"/>
            </a:pP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Mô hình có ý nghĩa quan trọng trong chẩn đoán y học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08" name="Google Shape;30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600" y="1096553"/>
            <a:ext cx="6776600" cy="401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1f1d6296c_1_1"/>
          <p:cNvSpPr txBox="1"/>
          <p:nvPr>
            <p:ph idx="4294967295" type="title"/>
          </p:nvPr>
        </p:nvSpPr>
        <p:spPr>
          <a:xfrm>
            <a:off x="502025" y="245203"/>
            <a:ext cx="105156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/>
              <a:buNone/>
            </a:pPr>
            <a:r>
              <a:rPr lang="en-VN"/>
              <a:t>KẾT LUẬN &amp; HƯỚNG PHÁT TRIỂN</a:t>
            </a:r>
            <a:endParaRPr/>
          </a:p>
        </p:txBody>
      </p:sp>
      <p:pic>
        <p:nvPicPr>
          <p:cNvPr id="314" name="Google Shape;314;g3b1f1d6296c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650" y="1394950"/>
            <a:ext cx="6375051" cy="39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b1f1d6296c_1_1"/>
          <p:cNvSpPr txBox="1"/>
          <p:nvPr/>
        </p:nvSpPr>
        <p:spPr>
          <a:xfrm>
            <a:off x="501100" y="1108000"/>
            <a:ext cx="46095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Play"/>
              <a:buChar char="-"/>
            </a:pP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Mở rộng được tập dữ liệu đầu vào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Play"/>
              <a:buChar char="-"/>
            </a:pP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Nghiên cứu thêm các mô hình học sâu hiện đại : ViT, EfficientNet,...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Play"/>
              <a:buChar char="-"/>
            </a:pPr>
            <a:r>
              <a:rPr lang="en-VN" sz="2800" u="sng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Bổ sung giải thích vùng tổn thương</a:t>
            </a: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, cần kiến thức chuyên môn về y tế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Play"/>
              <a:buChar char="-"/>
            </a:pPr>
            <a:r>
              <a:rPr lang="en-VN" sz="2800">
                <a:solidFill>
                  <a:srgbClr val="153898"/>
                </a:solidFill>
                <a:latin typeface="Play"/>
                <a:ea typeface="Play"/>
                <a:cs typeface="Play"/>
                <a:sym typeface="Play"/>
              </a:rPr>
              <a:t>Giảm tham số, tối ưu thời gian suy luận</a:t>
            </a:r>
            <a:endParaRPr sz="2800">
              <a:solidFill>
                <a:srgbClr val="15389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 txBox="1"/>
          <p:nvPr>
            <p:ph type="title"/>
          </p:nvPr>
        </p:nvSpPr>
        <p:spPr>
          <a:xfrm>
            <a:off x="839800" y="457200"/>
            <a:ext cx="53460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/>
              <a:buNone/>
            </a:pPr>
            <a:r>
              <a:rPr lang="en-VN"/>
              <a:t>TÀI LIỆU THAM KHẢO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839800" y="1243850"/>
            <a:ext cx="102759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9245" lvl="0" marL="45339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V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COVID-19 Radiography Database (Kaggle): </a:t>
            </a:r>
            <a:r>
              <a:rPr lang="en-VN" sz="13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V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Pneumonia Detection via CNN : </a:t>
            </a:r>
            <a:r>
              <a:rPr lang="en-VN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V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Chest X-ray (Covid-19 &amp; Pneumonia):</a:t>
            </a:r>
            <a:r>
              <a:rPr lang="en-VN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Link</a:t>
            </a:r>
            <a:endParaRPr>
              <a:solidFill>
                <a:srgbClr val="E8EAE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9245" lvl="0" marL="45339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V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Wang, L., Lin, Z. Q., &amp; Wong, A. (2020). COVID-Net: A tailored deep convolutional neural network design for detection of COVID-19 cases from chest X-ray images. GitHub. Available: </a:t>
            </a:r>
            <a:r>
              <a:rPr lang="en-VN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9245" lvl="0" marL="45339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V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Apostolopoulos, I. D., &amp; Mpesiana, T. A. (2020). COVID-19: Automatic detection from X-ray images utilizing transfer learning with convolutional neural networks. Available:</a:t>
            </a:r>
            <a:r>
              <a:rPr lang="en-VN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Link</a:t>
            </a:r>
            <a:endParaRPr sz="1050">
              <a:solidFill>
                <a:schemeClr val="dk1"/>
              </a:solidFill>
            </a:endParaRPr>
          </a:p>
          <a:p>
            <a:pPr indent="-293370" lvl="0" marL="45339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-V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Ozturk, T., et al. (2020). Automated detection of COVID-19 cases using deep neural networks with X-ray images. Available: </a:t>
            </a:r>
            <a:r>
              <a:rPr lang="en-VN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sz="1050">
              <a:solidFill>
                <a:schemeClr val="dk1"/>
              </a:solidFill>
            </a:endParaRPr>
          </a:p>
          <a:p>
            <a:pPr indent="-293370" lvl="0" marL="45339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n-V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Chowdhury, M. E. H., et al. (2020). Can AI help in screening viral and COVID-19 pneumonia?. IEEE Access. Available: </a:t>
            </a:r>
            <a:r>
              <a:rPr lang="en-VN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sz="1050">
              <a:solidFill>
                <a:schemeClr val="dk1"/>
              </a:solidFill>
            </a:endParaRPr>
          </a:p>
          <a:p>
            <a:pPr indent="-293370" lvl="0" marL="453390" rtl="0" algn="just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050"/>
              <a:buAutoNum type="arabicPeriod"/>
            </a:pPr>
            <a:r>
              <a:rPr lang="en-V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Rahimzadeh, M., &amp; Attar, A. (2020). A modified deep CNN for detecting COVID-19 and pneumonia from chest X-ray images. Available: </a:t>
            </a:r>
            <a:r>
              <a:rPr lang="en-VN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/>
          <p:nvPr>
            <p:ph type="title"/>
          </p:nvPr>
        </p:nvSpPr>
        <p:spPr>
          <a:xfrm>
            <a:off x="838200" y="2364450"/>
            <a:ext cx="5142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i Jamjuree"/>
              <a:buNone/>
            </a:pPr>
            <a:r>
              <a:rPr lang="en-VN"/>
              <a:t>Cảm ơn mọi người đã quan tâm và lắng </a:t>
            </a:r>
            <a:r>
              <a:rPr lang="en-VN"/>
              <a:t>nghe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2025-11-21T01:36:52Z</dcterms:created>
  <dc:creator>Huỳnh Phú Vinh</dc:creator>
</cp:coreProperties>
</file>